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63"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p:cViewPr varScale="1">
        <p:scale>
          <a:sx n="78" d="100"/>
          <a:sy n="78" d="100"/>
        </p:scale>
        <p:origin x="155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F9D2FED-6398-495A-8203-08345A724AF0}" type="datetimeFigureOut">
              <a:rPr lang="en-US" smtClean="0"/>
              <a:pPr/>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9D2FED-6398-495A-8203-08345A724AF0}" type="datetimeFigureOut">
              <a:rPr lang="en-US" smtClean="0"/>
              <a:pPr/>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9D2FED-6398-495A-8203-08345A724AF0}" type="datetimeFigureOut">
              <a:rPr lang="en-US" smtClean="0"/>
              <a:pPr/>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9D2FED-6398-495A-8203-08345A724AF0}" type="datetimeFigureOut">
              <a:rPr lang="en-US" smtClean="0"/>
              <a:pPr/>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9D2FED-6398-495A-8203-08345A724AF0}" type="datetimeFigureOut">
              <a:rPr lang="en-US" smtClean="0"/>
              <a:pPr/>
              <a:t>3/3/2024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F9D2FED-6398-495A-8203-08345A724AF0}" type="datetimeFigureOut">
              <a:rPr lang="en-US" smtClean="0"/>
              <a:pPr/>
              <a:t>3/3/2024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9D2FED-6398-495A-8203-08345A724AF0}" type="datetimeFigureOut">
              <a:rPr lang="en-US" smtClean="0"/>
              <a:pPr/>
              <a:t>3/3/2024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9D2FED-6398-495A-8203-08345A724AF0}" type="datetimeFigureOut">
              <a:rPr lang="en-US" smtClean="0"/>
              <a:pPr/>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9D2FED-6398-495A-8203-08345A724AF0}" type="datetimeFigureOut">
              <a:rPr lang="en-US" smtClean="0"/>
              <a:pPr/>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9D2FED-6398-495A-8203-08345A724AF0}" type="datetimeFigureOut">
              <a:rPr lang="en-US" smtClean="0"/>
              <a:pPr/>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9D2FED-6398-495A-8203-08345A724AF0}" type="datetimeFigureOut">
              <a:rPr lang="en-US" smtClean="0"/>
              <a:pPr/>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BC270-56AF-4BBC-AB49-C62F8EFE10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9D2FED-6398-495A-8203-08345A724AF0}" type="datetimeFigureOut">
              <a:rPr lang="en-US" smtClean="0"/>
              <a:pPr/>
              <a:t>3/3/2024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7BC270-56AF-4BBC-AB49-C62F8EFE10B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5" name="Picture 4">
            <a:extLst>
              <a:ext uri="{FF2B5EF4-FFF2-40B4-BE49-F238E27FC236}">
                <a16:creationId xmlns:a16="http://schemas.microsoft.com/office/drawing/2014/main" id="{F34BD862-8482-B4F8-C7C9-667553626BC7}"/>
              </a:ext>
            </a:extLst>
          </p:cNvPr>
          <p:cNvPicPr>
            <a:picLocks noChangeAspect="1"/>
          </p:cNvPicPr>
          <p:nvPr/>
        </p:nvPicPr>
        <p:blipFill rotWithShape="1">
          <a:blip r:embed="rId2">
            <a:alphaModFix amt="60000"/>
          </a:blip>
          <a:srcRect t="25000"/>
          <a:stretch/>
        </p:blipFill>
        <p:spPr>
          <a:xfrm>
            <a:off x="20" y="10"/>
            <a:ext cx="9143980" cy="6857990"/>
          </a:xfrm>
          <a:prstGeom prst="rect">
            <a:avLst/>
          </a:prstGeom>
        </p:spPr>
      </p:pic>
      <p:sp>
        <p:nvSpPr>
          <p:cNvPr id="2" name="Title 1"/>
          <p:cNvSpPr>
            <a:spLocks noGrp="1"/>
          </p:cNvSpPr>
          <p:nvPr>
            <p:ph type="ctrTitle"/>
          </p:nvPr>
        </p:nvSpPr>
        <p:spPr>
          <a:xfrm>
            <a:off x="898635" y="1122363"/>
            <a:ext cx="7346728" cy="2220775"/>
          </a:xfrm>
        </p:spPr>
        <p:txBody>
          <a:bodyPr>
            <a:normAutofit/>
          </a:bodyPr>
          <a:lstStyle/>
          <a:p>
            <a:r>
              <a:rPr lang="en-US" sz="4500" dirty="0">
                <a:solidFill>
                  <a:srgbClr val="FFFFFF"/>
                </a:solidFill>
              </a:rPr>
              <a:t>Data Structure &amp; Algorithm</a:t>
            </a:r>
          </a:p>
        </p:txBody>
      </p:sp>
      <p:sp>
        <p:nvSpPr>
          <p:cNvPr id="3" name="Subtitle 2"/>
          <p:cNvSpPr>
            <a:spLocks noGrp="1"/>
          </p:cNvSpPr>
          <p:nvPr>
            <p:ph type="subTitle" idx="1"/>
          </p:nvPr>
        </p:nvSpPr>
        <p:spPr>
          <a:xfrm>
            <a:off x="898635" y="2432859"/>
            <a:ext cx="7346728" cy="2057043"/>
          </a:xfrm>
        </p:spPr>
        <p:txBody>
          <a:bodyPr>
            <a:normAutofit/>
          </a:bodyPr>
          <a:lstStyle/>
          <a:p>
            <a:endParaRPr lang="en-US" dirty="0">
              <a:solidFill>
                <a:srgbClr val="FFFFFF"/>
              </a:solidFill>
            </a:endParaRPr>
          </a:p>
          <a:p>
            <a:r>
              <a:rPr lang="en-US" dirty="0">
                <a:solidFill>
                  <a:srgbClr val="FFFFFF"/>
                </a:solidFill>
              </a:rPr>
              <a:t>Project Name:</a:t>
            </a:r>
          </a:p>
          <a:p>
            <a:r>
              <a:rPr lang="en-US" dirty="0">
                <a:solidFill>
                  <a:srgbClr val="FFFFFF"/>
                </a:solidFill>
              </a:rPr>
              <a:t>Employee Attendance System</a:t>
            </a:r>
          </a:p>
          <a:p>
            <a:endParaRPr lang="en-US" dirty="0">
              <a:solidFill>
                <a:srgbClr val="FFFFFF"/>
              </a:solidFill>
            </a:endParaRPr>
          </a:p>
          <a:p>
            <a:endParaRPr lang="en-US" dirty="0">
              <a:solidFill>
                <a:srgbClr val="FFFFFF"/>
              </a:solidFill>
            </a:endParaRPr>
          </a:p>
          <a:p>
            <a:endParaRPr lang="en-US" dirty="0">
              <a:solidFill>
                <a:srgbClr val="FFFFFF"/>
              </a:solidFill>
            </a:endParaRPr>
          </a:p>
          <a:p>
            <a:endParaRPr lang="en-US" dirty="0">
              <a:solidFill>
                <a:srgbClr val="FFFFFF"/>
              </a:solidFill>
            </a:endParaRPr>
          </a:p>
          <a:p>
            <a:endParaRPr lang="en-US" dirty="0">
              <a:solidFill>
                <a:srgbClr val="FFFFFF"/>
              </a:solidFill>
            </a:endParaRPr>
          </a:p>
          <a:p>
            <a:endParaRPr lang="en-US" dirty="0">
              <a:solidFill>
                <a:srgbClr val="FFFFFF"/>
              </a:solidFill>
            </a:endParaRPr>
          </a:p>
          <a:p>
            <a:endParaRPr lang="en-US"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CB9F7F-B4E1-D700-4B4E-DCF7EC8CAAE6}"/>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439203E-DC42-0B0C-05DC-F5C57673E763}"/>
              </a:ext>
            </a:extLst>
          </p:cNvPr>
          <p:cNvPicPr>
            <a:picLocks noChangeAspect="1"/>
          </p:cNvPicPr>
          <p:nvPr/>
        </p:nvPicPr>
        <p:blipFill rotWithShape="1">
          <a:blip r:embed="rId2"/>
          <a:srcRect t="9091" r="13816" b="-3"/>
          <a:stretch/>
        </p:blipFill>
        <p:spPr>
          <a:xfrm>
            <a:off x="2642616" y="10"/>
            <a:ext cx="6501384" cy="6857990"/>
          </a:xfrm>
          <a:prstGeom prst="rect">
            <a:avLst/>
          </a:prstGeom>
        </p:spPr>
      </p:pic>
      <p:sp>
        <p:nvSpPr>
          <p:cNvPr id="18" name="Rectangle 17">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1745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FD21E7D-07D4-4E22-DEEF-0C30553DE689}"/>
              </a:ext>
            </a:extLst>
          </p:cNvPr>
          <p:cNvSpPr>
            <a:spLocks noGrp="1"/>
          </p:cNvSpPr>
          <p:nvPr>
            <p:ph type="ctrTitle"/>
          </p:nvPr>
        </p:nvSpPr>
        <p:spPr>
          <a:xfrm>
            <a:off x="278320" y="1161288"/>
            <a:ext cx="2578608" cy="1124712"/>
          </a:xfrm>
        </p:spPr>
        <p:txBody>
          <a:bodyPr vert="horz" lIns="91440" tIns="45720" rIns="91440" bIns="45720" rtlCol="0" anchor="b">
            <a:normAutofit/>
          </a:bodyPr>
          <a:lstStyle/>
          <a:p>
            <a:pPr algn="l">
              <a:lnSpc>
                <a:spcPct val="90000"/>
              </a:lnSpc>
            </a:pPr>
            <a:r>
              <a:rPr lang="en-US" sz="2400" dirty="0"/>
              <a:t>Group Members</a:t>
            </a:r>
          </a:p>
        </p:txBody>
      </p:sp>
      <p:sp>
        <p:nvSpPr>
          <p:cNvPr id="20" name="Rectangle 19">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7775" y="674370"/>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183" y="2443480"/>
            <a:ext cx="2475738"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10B8E8B7-5609-D7D3-0480-A41C8269D298}"/>
              </a:ext>
            </a:extLst>
          </p:cNvPr>
          <p:cNvSpPr>
            <a:spLocks noGrp="1"/>
          </p:cNvSpPr>
          <p:nvPr>
            <p:ph type="subTitle" idx="1"/>
          </p:nvPr>
        </p:nvSpPr>
        <p:spPr>
          <a:xfrm>
            <a:off x="278320" y="2718054"/>
            <a:ext cx="3455480" cy="3207258"/>
          </a:xfrm>
        </p:spPr>
        <p:txBody>
          <a:bodyPr vert="horz" lIns="91440" tIns="45720" rIns="91440" bIns="45720" rtlCol="0" anchor="t">
            <a:normAutofit/>
          </a:bodyPr>
          <a:lstStyle/>
          <a:p>
            <a:pPr indent="-228600" algn="l">
              <a:lnSpc>
                <a:spcPct val="90000"/>
              </a:lnSpc>
              <a:buFont typeface="Arial" panose="020B0604020202020204" pitchFamily="34" charset="0"/>
              <a:buChar char="•"/>
            </a:pPr>
            <a:endParaRPr lang="en-US" sz="1500" dirty="0">
              <a:solidFill>
                <a:schemeClr val="tx1"/>
              </a:solidFill>
            </a:endParaRPr>
          </a:p>
          <a:p>
            <a:pPr indent="-228600" algn="l">
              <a:lnSpc>
                <a:spcPct val="90000"/>
              </a:lnSpc>
              <a:buFont typeface="Arial" panose="020B0604020202020204" pitchFamily="34" charset="0"/>
              <a:buChar char="•"/>
            </a:pPr>
            <a:r>
              <a:rPr lang="en-US" sz="1600" dirty="0">
                <a:solidFill>
                  <a:schemeClr val="tx1"/>
                </a:solidFill>
              </a:rPr>
              <a:t>Muarij Aamir -  221370104</a:t>
            </a:r>
          </a:p>
          <a:p>
            <a:pPr indent="-228600" algn="l">
              <a:lnSpc>
                <a:spcPct val="90000"/>
              </a:lnSpc>
              <a:buFont typeface="Arial" panose="020B0604020202020204" pitchFamily="34" charset="0"/>
              <a:buChar char="•"/>
            </a:pPr>
            <a:r>
              <a:rPr lang="en-US" sz="1600" dirty="0">
                <a:solidFill>
                  <a:schemeClr val="tx1"/>
                </a:solidFill>
              </a:rPr>
              <a:t>Bilal Rizwan – 211400149</a:t>
            </a:r>
          </a:p>
          <a:p>
            <a:pPr indent="-228600" algn="l">
              <a:lnSpc>
                <a:spcPct val="90000"/>
              </a:lnSpc>
              <a:buFont typeface="Arial" panose="020B0604020202020204" pitchFamily="34" charset="0"/>
              <a:buChar char="•"/>
            </a:pPr>
            <a:r>
              <a:rPr lang="en-US" sz="1600" dirty="0">
                <a:solidFill>
                  <a:schemeClr val="tx1"/>
                </a:solidFill>
              </a:rPr>
              <a:t>Muhammad Abdullah – 201370102</a:t>
            </a:r>
          </a:p>
          <a:p>
            <a:pPr indent="-228600" algn="l">
              <a:lnSpc>
                <a:spcPct val="90000"/>
              </a:lnSpc>
              <a:buFont typeface="Arial" panose="020B0604020202020204" pitchFamily="34" charset="0"/>
              <a:buChar char="•"/>
            </a:pPr>
            <a:r>
              <a:rPr lang="en-US" sz="1600" dirty="0">
                <a:solidFill>
                  <a:schemeClr val="tx1"/>
                </a:solidFill>
              </a:rPr>
              <a:t>Mohammad Muaaz - 221370187</a:t>
            </a:r>
          </a:p>
          <a:p>
            <a:pPr indent="-228600" algn="l">
              <a:lnSpc>
                <a:spcPct val="90000"/>
              </a:lnSpc>
              <a:buFont typeface="Arial" panose="020B0604020202020204" pitchFamily="34" charset="0"/>
              <a:buChar char="•"/>
            </a:pPr>
            <a:endParaRPr lang="en-US" sz="1500" dirty="0">
              <a:solidFill>
                <a:schemeClr val="tx1"/>
              </a:solidFill>
            </a:endParaRPr>
          </a:p>
          <a:p>
            <a:pPr indent="-228600" algn="l">
              <a:lnSpc>
                <a:spcPct val="90000"/>
              </a:lnSpc>
              <a:buFont typeface="Arial" panose="020B0604020202020204" pitchFamily="34" charset="0"/>
              <a:buChar char="•"/>
            </a:pPr>
            <a:endParaRPr lang="en-US" sz="1500" dirty="0">
              <a:solidFill>
                <a:schemeClr val="tx1"/>
              </a:solidFill>
            </a:endParaRPr>
          </a:p>
          <a:p>
            <a:pPr indent="-228600" algn="l">
              <a:lnSpc>
                <a:spcPct val="90000"/>
              </a:lnSpc>
              <a:buFont typeface="Arial" panose="020B0604020202020204" pitchFamily="34" charset="0"/>
              <a:buChar char="•"/>
            </a:pPr>
            <a:endParaRPr lang="en-US" sz="1500" dirty="0">
              <a:solidFill>
                <a:schemeClr val="tx1"/>
              </a:solidFill>
            </a:endParaRPr>
          </a:p>
          <a:p>
            <a:pPr indent="-228600" algn="l">
              <a:lnSpc>
                <a:spcPct val="90000"/>
              </a:lnSpc>
              <a:buFont typeface="Arial" panose="020B0604020202020204" pitchFamily="34" charset="0"/>
              <a:buChar char="•"/>
            </a:pPr>
            <a:endParaRPr lang="en-US" sz="1500" dirty="0">
              <a:solidFill>
                <a:schemeClr val="tx1"/>
              </a:solidFill>
            </a:endParaRPr>
          </a:p>
          <a:p>
            <a:pPr indent="-228600" algn="l">
              <a:lnSpc>
                <a:spcPct val="90000"/>
              </a:lnSpc>
              <a:buFont typeface="Arial" panose="020B0604020202020204" pitchFamily="34" charset="0"/>
              <a:buChar char="•"/>
            </a:pPr>
            <a:endParaRPr lang="en-US" sz="1500" dirty="0">
              <a:solidFill>
                <a:schemeClr val="tx1"/>
              </a:solidFill>
            </a:endParaRPr>
          </a:p>
          <a:p>
            <a:pPr indent="-228600" algn="l">
              <a:lnSpc>
                <a:spcPct val="90000"/>
              </a:lnSpc>
              <a:buFont typeface="Arial" panose="020B0604020202020204" pitchFamily="34" charset="0"/>
              <a:buChar char="•"/>
            </a:pPr>
            <a:endParaRPr lang="en-US" sz="1500" dirty="0">
              <a:solidFill>
                <a:schemeClr val="tx1"/>
              </a:solidFill>
            </a:endParaRPr>
          </a:p>
        </p:txBody>
      </p:sp>
    </p:spTree>
    <p:extLst>
      <p:ext uri="{BB962C8B-B14F-4D97-AF65-F5344CB8AC3E}">
        <p14:creationId xmlns:p14="http://schemas.microsoft.com/office/powerpoint/2010/main" val="654009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902FAD-AAB5-FAA0-EE70-6CA01F0BDC12}"/>
            </a:ext>
          </a:extLst>
        </p:cNvPr>
        <p:cNvGrpSpPr/>
        <p:nvPr/>
      </p:nvGrpSpPr>
      <p:grpSpPr>
        <a:xfrm>
          <a:off x="0" y="0"/>
          <a:ext cx="0" cy="0"/>
          <a:chOff x="0" y="0"/>
          <a:chExt cx="0" cy="0"/>
        </a:xfrm>
      </p:grpSpPr>
      <p:sp>
        <p:nvSpPr>
          <p:cNvPr id="16"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9143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B1823DC-E68F-F6D1-5F83-FF65E3D3E55F}"/>
              </a:ext>
            </a:extLst>
          </p:cNvPr>
          <p:cNvPicPr>
            <a:picLocks noChangeAspect="1"/>
          </p:cNvPicPr>
          <p:nvPr/>
        </p:nvPicPr>
        <p:blipFill rotWithShape="1">
          <a:blip r:embed="rId2">
            <a:alphaModFix amt="55000"/>
          </a:blip>
          <a:srcRect t="25000"/>
          <a:stretch/>
        </p:blipFill>
        <p:spPr>
          <a:xfrm>
            <a:off x="20" y="-9107"/>
            <a:ext cx="9143980" cy="6858000"/>
          </a:xfrm>
          <a:prstGeom prst="rect">
            <a:avLst/>
          </a:prstGeom>
        </p:spPr>
      </p:pic>
      <p:sp>
        <p:nvSpPr>
          <p:cNvPr id="2" name="Title 1">
            <a:extLst>
              <a:ext uri="{FF2B5EF4-FFF2-40B4-BE49-F238E27FC236}">
                <a16:creationId xmlns:a16="http://schemas.microsoft.com/office/drawing/2014/main" id="{2D817521-5F89-58C3-96D0-6B6290A6AF62}"/>
              </a:ext>
            </a:extLst>
          </p:cNvPr>
          <p:cNvSpPr>
            <a:spLocks noGrp="1"/>
          </p:cNvSpPr>
          <p:nvPr>
            <p:ph type="ctrTitle"/>
          </p:nvPr>
        </p:nvSpPr>
        <p:spPr>
          <a:xfrm>
            <a:off x="515125" y="591344"/>
            <a:ext cx="2400300" cy="5585619"/>
          </a:xfrm>
        </p:spPr>
        <p:txBody>
          <a:bodyPr vert="horz" lIns="91440" tIns="45720" rIns="91440" bIns="45720" rtlCol="0" anchor="ctr">
            <a:normAutofit/>
          </a:bodyPr>
          <a:lstStyle/>
          <a:p>
            <a:pPr algn="l">
              <a:lnSpc>
                <a:spcPct val="90000"/>
              </a:lnSpc>
            </a:pPr>
            <a:r>
              <a:rPr lang="en-US" sz="3400">
                <a:solidFill>
                  <a:srgbClr val="FFFFFF"/>
                </a:solidFill>
              </a:rPr>
              <a:t>Introduction</a:t>
            </a: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1A7F5A5C-F0E5-33C6-E7A6-9CC3E95A100F}"/>
              </a:ext>
            </a:extLst>
          </p:cNvPr>
          <p:cNvSpPr>
            <a:spLocks noGrp="1"/>
          </p:cNvSpPr>
          <p:nvPr>
            <p:ph type="subTitle" idx="1"/>
          </p:nvPr>
        </p:nvSpPr>
        <p:spPr>
          <a:xfrm>
            <a:off x="3398338" y="1143000"/>
            <a:ext cx="5179868" cy="5585619"/>
          </a:xfrm>
        </p:spPr>
        <p:txBody>
          <a:bodyPr vert="horz" lIns="91440" tIns="45720" rIns="91440" bIns="45720" rtlCol="0" anchor="ctr">
            <a:normAutofit/>
          </a:bodyPr>
          <a:lstStyle/>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r>
              <a:rPr lang="en-US" sz="1300" dirty="0">
                <a:solidFill>
                  <a:srgbClr val="FFFFFF"/>
                </a:solidFill>
              </a:rPr>
              <a:t>The Employee Attendance System is a software solution designed to streamline the process of tracking employee attendance and managing leave requests within an organization. This system provides a user-friendly interface for both employees and administrators, allowing employees to easily request leaves and mark their attendance, while administrators can efficiently manage employee data, approve leave requests, and generate reports.</a:t>
            </a:r>
          </a:p>
          <a:p>
            <a:pPr algn="l">
              <a:lnSpc>
                <a:spcPct val="90000"/>
              </a:lnSpc>
            </a:pPr>
            <a:endParaRPr lang="en-US" sz="1300" dirty="0">
              <a:solidFill>
                <a:srgbClr val="FFFFFF"/>
              </a:solidFill>
            </a:endParaRPr>
          </a:p>
          <a:p>
            <a:pPr indent="-228600" algn="l">
              <a:lnSpc>
                <a:spcPct val="90000"/>
              </a:lnSpc>
              <a:buFont typeface="Arial" panose="020B0604020202020204" pitchFamily="34" charset="0"/>
              <a:buChar char="•"/>
            </a:pPr>
            <a:r>
              <a:rPr lang="en-US" sz="1300" dirty="0">
                <a:solidFill>
                  <a:srgbClr val="FFFFFF"/>
                </a:solidFill>
              </a:rPr>
              <a:t>The system aims to replace traditional attendance tracking methods, such as manual timesheets or punch cards, with a more efficient and accurate digital solution. By automating the attendance tracking process, organizations can reduce errors, improve productivity, and ensure compliance with labor regulations.</a:t>
            </a:r>
          </a:p>
          <a:p>
            <a:pPr algn="l">
              <a:lnSpc>
                <a:spcPct val="90000"/>
              </a:lnSpc>
            </a:pPr>
            <a:endParaRPr lang="en-US" sz="1300" dirty="0">
              <a:solidFill>
                <a:srgbClr val="FFFFFF"/>
              </a:solidFill>
            </a:endParaRPr>
          </a:p>
          <a:p>
            <a:pPr indent="-228600" algn="l">
              <a:lnSpc>
                <a:spcPct val="90000"/>
              </a:lnSpc>
              <a:buFont typeface="Arial" panose="020B0604020202020204" pitchFamily="34" charset="0"/>
              <a:buChar char="•"/>
            </a:pPr>
            <a:r>
              <a:rPr lang="en-US" sz="1300" dirty="0">
                <a:solidFill>
                  <a:srgbClr val="FFFFFF"/>
                </a:solidFill>
              </a:rPr>
              <a:t>Key features of the Employee Attendance System include user authentication and management, leave management, attendance tracking, employee information management, database management, and admin panel, reporting and analytics, integration with personal database, security measures, testing, and deployment.</a:t>
            </a:r>
          </a:p>
          <a:p>
            <a:pPr algn="l">
              <a:lnSpc>
                <a:spcPct val="90000"/>
              </a:lnSpc>
            </a:pPr>
            <a:endParaRPr lang="en-US" sz="1300" dirty="0">
              <a:solidFill>
                <a:srgbClr val="FFFFFF"/>
              </a:solidFill>
            </a:endParaRPr>
          </a:p>
          <a:p>
            <a:pPr indent="-228600" algn="l">
              <a:lnSpc>
                <a:spcPct val="90000"/>
              </a:lnSpc>
              <a:buFont typeface="Arial" panose="020B0604020202020204" pitchFamily="34" charset="0"/>
              <a:buChar char="•"/>
            </a:pPr>
            <a:r>
              <a:rPr lang="en-US" sz="1300" dirty="0">
                <a:solidFill>
                  <a:srgbClr val="FFFFFF"/>
                </a:solidFill>
              </a:rPr>
              <a:t>Overall, the Employee Attendance System is designed to improve the efficiency and accuracy of attendance tracking and leave management processes within organizations, ultimately leading to better employee management and organizational performance.</a:t>
            </a:r>
          </a:p>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endParaRPr lang="en-US" sz="1300" dirty="0">
              <a:solidFill>
                <a:srgbClr val="FFFFFF"/>
              </a:solidFill>
            </a:endParaRPr>
          </a:p>
        </p:txBody>
      </p:sp>
    </p:spTree>
    <p:extLst>
      <p:ext uri="{BB962C8B-B14F-4D97-AF65-F5344CB8AC3E}">
        <p14:creationId xmlns:p14="http://schemas.microsoft.com/office/powerpoint/2010/main" val="2727036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D5E87C-E378-E235-8D6D-797545B6684F}"/>
            </a:ext>
          </a:extLst>
        </p:cNvPr>
        <p:cNvGrpSpPr/>
        <p:nvPr/>
      </p:nvGrpSpPr>
      <p:grpSpPr>
        <a:xfrm>
          <a:off x="0" y="0"/>
          <a:ext cx="0" cy="0"/>
          <a:chOff x="0" y="0"/>
          <a:chExt cx="0" cy="0"/>
        </a:xfrm>
      </p:grpSpPr>
      <p:sp>
        <p:nvSpPr>
          <p:cNvPr id="16" name="!!Rectangle">
            <a:extLst>
              <a:ext uri="{FF2B5EF4-FFF2-40B4-BE49-F238E27FC236}">
                <a16:creationId xmlns:a16="http://schemas.microsoft.com/office/drawing/2014/main" id="{09146209-6681-03B9-9373-A3CA2D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9143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05C5CDF2-DDB4-808C-A535-655F876ADD82}"/>
              </a:ext>
            </a:extLst>
          </p:cNvPr>
          <p:cNvPicPr>
            <a:picLocks noChangeAspect="1"/>
          </p:cNvPicPr>
          <p:nvPr/>
        </p:nvPicPr>
        <p:blipFill rotWithShape="1">
          <a:blip r:embed="rId2">
            <a:alphaModFix amt="55000"/>
          </a:blip>
          <a:srcRect t="25000"/>
          <a:stretch/>
        </p:blipFill>
        <p:spPr>
          <a:xfrm>
            <a:off x="2478" y="2458"/>
            <a:ext cx="9143980" cy="6858000"/>
          </a:xfrm>
          <a:prstGeom prst="rect">
            <a:avLst/>
          </a:prstGeom>
        </p:spPr>
      </p:pic>
      <p:sp>
        <p:nvSpPr>
          <p:cNvPr id="2" name="Title 1">
            <a:extLst>
              <a:ext uri="{FF2B5EF4-FFF2-40B4-BE49-F238E27FC236}">
                <a16:creationId xmlns:a16="http://schemas.microsoft.com/office/drawing/2014/main" id="{DEE88C5D-A2F7-A31F-72AE-ED37270F4797}"/>
              </a:ext>
            </a:extLst>
          </p:cNvPr>
          <p:cNvSpPr>
            <a:spLocks noGrp="1"/>
          </p:cNvSpPr>
          <p:nvPr>
            <p:ph type="ctrTitle"/>
          </p:nvPr>
        </p:nvSpPr>
        <p:spPr>
          <a:xfrm>
            <a:off x="1371600" y="638648"/>
            <a:ext cx="2400300" cy="5585619"/>
          </a:xfrm>
        </p:spPr>
        <p:txBody>
          <a:bodyPr vert="horz" lIns="91440" tIns="45720" rIns="91440" bIns="45720" rtlCol="0" anchor="ctr">
            <a:normAutofit/>
          </a:bodyPr>
          <a:lstStyle/>
          <a:p>
            <a:pPr algn="l">
              <a:lnSpc>
                <a:spcPct val="90000"/>
              </a:lnSpc>
            </a:pPr>
            <a:r>
              <a:rPr lang="en-US" sz="3400" dirty="0">
                <a:solidFill>
                  <a:srgbClr val="FFFFFF"/>
                </a:solidFill>
              </a:rPr>
              <a:t>Scope</a:t>
            </a:r>
          </a:p>
        </p:txBody>
      </p:sp>
      <p:sp>
        <p:nvSpPr>
          <p:cNvPr id="18" name="Arc 17">
            <a:extLst>
              <a:ext uri="{FF2B5EF4-FFF2-40B4-BE49-F238E27FC236}">
                <a16:creationId xmlns:a16="http://schemas.microsoft.com/office/drawing/2014/main" id="{70D4AB56-C10F-3336-E8E9-74EF4505E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092491-4A3C-DE6A-B17D-0BD48A5B25AC}"/>
              </a:ext>
            </a:extLst>
          </p:cNvPr>
          <p:cNvSpPr>
            <a:spLocks noGrp="1"/>
          </p:cNvSpPr>
          <p:nvPr>
            <p:ph type="subTitle" idx="1"/>
          </p:nvPr>
        </p:nvSpPr>
        <p:spPr>
          <a:xfrm>
            <a:off x="3398338" y="1143000"/>
            <a:ext cx="5179868" cy="5585619"/>
          </a:xfrm>
        </p:spPr>
        <p:txBody>
          <a:bodyPr vert="horz" lIns="91440" tIns="45720" rIns="91440" bIns="45720" rtlCol="0" anchor="ctr">
            <a:normAutofit/>
          </a:bodyPr>
          <a:lstStyle/>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r>
              <a:rPr lang="en-US" sz="2000" dirty="0">
                <a:solidFill>
                  <a:srgbClr val="FFFFFF"/>
                </a:solidFill>
              </a:rPr>
              <a:t>The scope of  Employee Attendance System project includes developing a comprehensive software solution to manage employee attendance and leave tracking. This involves creating functionalities for user authentication and management, leave management, attendance tracking, employee information management, database management, and admin panel, reporting and analytics, integration, security, testing, and deployment.</a:t>
            </a:r>
          </a:p>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endParaRPr lang="en-US" sz="1300" dirty="0">
              <a:solidFill>
                <a:srgbClr val="FFFFFF"/>
              </a:solidFill>
            </a:endParaRPr>
          </a:p>
          <a:p>
            <a:pPr indent="-228600" algn="l">
              <a:lnSpc>
                <a:spcPct val="90000"/>
              </a:lnSpc>
              <a:buFont typeface="Arial" panose="020B0604020202020204" pitchFamily="34" charset="0"/>
              <a:buChar char="•"/>
            </a:pPr>
            <a:endParaRPr lang="en-US" sz="1300" dirty="0">
              <a:solidFill>
                <a:srgbClr val="FFFFFF"/>
              </a:solidFill>
            </a:endParaRPr>
          </a:p>
        </p:txBody>
      </p:sp>
    </p:spTree>
    <p:extLst>
      <p:ext uri="{BB962C8B-B14F-4D97-AF65-F5344CB8AC3E}">
        <p14:creationId xmlns:p14="http://schemas.microsoft.com/office/powerpoint/2010/main" val="4095384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2AD637-DD01-EB17-2991-0E07DFA5F2CC}"/>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CE6750F-247C-E567-D267-D96C940B34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5398A1E-2169-09CF-EE82-623FB19E0523}"/>
              </a:ext>
            </a:extLst>
          </p:cNvPr>
          <p:cNvPicPr>
            <a:picLocks noChangeAspect="1"/>
          </p:cNvPicPr>
          <p:nvPr/>
        </p:nvPicPr>
        <p:blipFill rotWithShape="1">
          <a:blip r:embed="rId2"/>
          <a:srcRect t="9091" r="13816" b="-3"/>
          <a:stretch/>
        </p:blipFill>
        <p:spPr>
          <a:xfrm>
            <a:off x="2642616" y="10"/>
            <a:ext cx="6501384" cy="6857990"/>
          </a:xfrm>
          <a:prstGeom prst="rect">
            <a:avLst/>
          </a:prstGeom>
        </p:spPr>
      </p:pic>
      <p:sp>
        <p:nvSpPr>
          <p:cNvPr id="18" name="Rectangle 17">
            <a:extLst>
              <a:ext uri="{FF2B5EF4-FFF2-40B4-BE49-F238E27FC236}">
                <a16:creationId xmlns:a16="http://schemas.microsoft.com/office/drawing/2014/main" id="{E5995A68-901C-7DEB-DCF6-14339C5EF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1745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C2BDC3-DFB6-A464-D542-CCBE845877FD}"/>
              </a:ext>
            </a:extLst>
          </p:cNvPr>
          <p:cNvSpPr>
            <a:spLocks noGrp="1"/>
          </p:cNvSpPr>
          <p:nvPr>
            <p:ph type="ctrTitle"/>
          </p:nvPr>
        </p:nvSpPr>
        <p:spPr>
          <a:xfrm>
            <a:off x="278320" y="1161288"/>
            <a:ext cx="2578608" cy="1124712"/>
          </a:xfrm>
        </p:spPr>
        <p:txBody>
          <a:bodyPr vert="horz" lIns="91440" tIns="45720" rIns="91440" bIns="45720" rtlCol="0" anchor="b">
            <a:normAutofit/>
          </a:bodyPr>
          <a:lstStyle/>
          <a:p>
            <a:pPr algn="l">
              <a:lnSpc>
                <a:spcPct val="90000"/>
              </a:lnSpc>
            </a:pPr>
            <a:r>
              <a:rPr lang="en-US" sz="2400" dirty="0"/>
              <a:t>Status Report</a:t>
            </a:r>
          </a:p>
        </p:txBody>
      </p:sp>
      <p:sp>
        <p:nvSpPr>
          <p:cNvPr id="20" name="Rectangle 19">
            <a:extLst>
              <a:ext uri="{FF2B5EF4-FFF2-40B4-BE49-F238E27FC236}">
                <a16:creationId xmlns:a16="http://schemas.microsoft.com/office/drawing/2014/main" id="{A5AD876D-78B6-39DA-4500-E11FFB4660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7775" y="674370"/>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BFCDF9F0-C4BF-0086-115E-B3A1D5198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183" y="2443480"/>
            <a:ext cx="2475738"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393A2BA-356C-949B-0DFE-5BFFD42B6D12}"/>
              </a:ext>
            </a:extLst>
          </p:cNvPr>
          <p:cNvSpPr>
            <a:spLocks noGrp="1"/>
          </p:cNvSpPr>
          <p:nvPr>
            <p:ph type="subTitle" idx="1"/>
          </p:nvPr>
        </p:nvSpPr>
        <p:spPr>
          <a:xfrm>
            <a:off x="278320" y="2718054"/>
            <a:ext cx="3760280" cy="3207258"/>
          </a:xfrm>
        </p:spPr>
        <p:txBody>
          <a:bodyPr vert="horz" lIns="91440" tIns="45720" rIns="91440" bIns="45720" rtlCol="0" anchor="t">
            <a:normAutofit/>
          </a:bodyPr>
          <a:lstStyle/>
          <a:p>
            <a:pPr indent="-228600" algn="l">
              <a:lnSpc>
                <a:spcPct val="90000"/>
              </a:lnSpc>
              <a:buFont typeface="Arial" panose="020B0604020202020204" pitchFamily="34" charset="0"/>
              <a:buChar char="•"/>
            </a:pPr>
            <a:endParaRPr lang="en-US" sz="1500" dirty="0">
              <a:solidFill>
                <a:schemeClr val="tx1"/>
              </a:solidFill>
            </a:endParaRPr>
          </a:p>
          <a:p>
            <a:pPr indent="-228600" algn="l">
              <a:lnSpc>
                <a:spcPct val="90000"/>
              </a:lnSpc>
              <a:buFont typeface="Arial" panose="020B0604020202020204" pitchFamily="34" charset="0"/>
              <a:buChar char="•"/>
            </a:pPr>
            <a:endParaRPr lang="en-US" sz="1500" dirty="0">
              <a:solidFill>
                <a:schemeClr val="tx1"/>
              </a:solidFill>
            </a:endParaRPr>
          </a:p>
          <a:p>
            <a:pPr indent="-228600" algn="l">
              <a:lnSpc>
                <a:spcPct val="90000"/>
              </a:lnSpc>
              <a:buFont typeface="Arial" panose="020B0604020202020204" pitchFamily="34" charset="0"/>
              <a:buChar char="•"/>
            </a:pPr>
            <a:r>
              <a:rPr lang="en-US" sz="1500" dirty="0">
                <a:solidFill>
                  <a:schemeClr val="tx1"/>
                </a:solidFill>
              </a:rPr>
              <a:t>Bilal Rizwan – User &amp; Admin </a:t>
            </a:r>
          </a:p>
          <a:p>
            <a:pPr indent="-228600" algn="l">
              <a:lnSpc>
                <a:spcPct val="90000"/>
              </a:lnSpc>
              <a:buFont typeface="Arial" panose="020B0604020202020204" pitchFamily="34" charset="0"/>
              <a:buChar char="•"/>
            </a:pPr>
            <a:r>
              <a:rPr lang="en-US" sz="1500" dirty="0">
                <a:solidFill>
                  <a:schemeClr val="tx1"/>
                </a:solidFill>
              </a:rPr>
              <a:t>Muarij Aamir – Employee &amp; Main</a:t>
            </a:r>
          </a:p>
          <a:p>
            <a:pPr indent="-228600" algn="l">
              <a:lnSpc>
                <a:spcPct val="90000"/>
              </a:lnSpc>
              <a:buFont typeface="Arial" panose="020B0604020202020204" pitchFamily="34" charset="0"/>
              <a:buChar char="•"/>
            </a:pPr>
            <a:r>
              <a:rPr lang="en-US" sz="1500" dirty="0">
                <a:solidFill>
                  <a:schemeClr val="tx1"/>
                </a:solidFill>
              </a:rPr>
              <a:t>M.Abdullah – Leave &amp;  Documentation</a:t>
            </a:r>
          </a:p>
          <a:p>
            <a:pPr indent="-228600" algn="l">
              <a:lnSpc>
                <a:spcPct val="90000"/>
              </a:lnSpc>
              <a:buFont typeface="Arial" panose="020B0604020202020204" pitchFamily="34" charset="0"/>
              <a:buChar char="•"/>
            </a:pPr>
            <a:r>
              <a:rPr lang="en-US" sz="1500" dirty="0">
                <a:solidFill>
                  <a:schemeClr val="tx1"/>
                </a:solidFill>
              </a:rPr>
              <a:t>M.Muaaz – Database &amp; Attendance record </a:t>
            </a:r>
          </a:p>
          <a:p>
            <a:pPr indent="-228600" algn="l">
              <a:lnSpc>
                <a:spcPct val="90000"/>
              </a:lnSpc>
              <a:buFont typeface="Arial" panose="020B0604020202020204" pitchFamily="34" charset="0"/>
              <a:buChar char="•"/>
            </a:pPr>
            <a:endParaRPr lang="en-US" sz="1500" dirty="0">
              <a:solidFill>
                <a:schemeClr val="tx1"/>
              </a:solidFill>
            </a:endParaRPr>
          </a:p>
          <a:p>
            <a:pPr indent="-228600" algn="l">
              <a:lnSpc>
                <a:spcPct val="90000"/>
              </a:lnSpc>
              <a:buFont typeface="Arial" panose="020B0604020202020204" pitchFamily="34" charset="0"/>
              <a:buChar char="•"/>
            </a:pPr>
            <a:endParaRPr lang="en-US" sz="1500" dirty="0">
              <a:solidFill>
                <a:schemeClr val="tx1"/>
              </a:solidFill>
            </a:endParaRPr>
          </a:p>
          <a:p>
            <a:pPr indent="-228600" algn="l">
              <a:lnSpc>
                <a:spcPct val="90000"/>
              </a:lnSpc>
              <a:buFont typeface="Arial" panose="020B0604020202020204" pitchFamily="34" charset="0"/>
              <a:buChar char="•"/>
            </a:pPr>
            <a:endParaRPr lang="en-US" sz="1500" dirty="0">
              <a:solidFill>
                <a:schemeClr val="tx1"/>
              </a:solidFill>
            </a:endParaRPr>
          </a:p>
          <a:p>
            <a:pPr algn="l">
              <a:lnSpc>
                <a:spcPct val="90000"/>
              </a:lnSpc>
            </a:pPr>
            <a:endParaRPr lang="en-US" sz="1500" dirty="0">
              <a:solidFill>
                <a:schemeClr val="tx1"/>
              </a:solidFill>
            </a:endParaRPr>
          </a:p>
          <a:p>
            <a:pPr indent="-228600" algn="l">
              <a:lnSpc>
                <a:spcPct val="90000"/>
              </a:lnSpc>
              <a:buFont typeface="Arial" panose="020B0604020202020204" pitchFamily="34" charset="0"/>
              <a:buChar char="•"/>
            </a:pPr>
            <a:endParaRPr lang="en-US" sz="1500" dirty="0">
              <a:solidFill>
                <a:schemeClr val="tx1"/>
              </a:solidFill>
            </a:endParaRPr>
          </a:p>
        </p:txBody>
      </p:sp>
    </p:spTree>
    <p:extLst>
      <p:ext uri="{BB962C8B-B14F-4D97-AF65-F5344CB8AC3E}">
        <p14:creationId xmlns:p14="http://schemas.microsoft.com/office/powerpoint/2010/main" val="4289458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314</Words>
  <Application>Microsoft Office PowerPoint</Application>
  <PresentationFormat>On-screen Show (4:3)</PresentationFormat>
  <Paragraphs>49</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Data Structure &amp; Algorithm</vt:lpstr>
      <vt:lpstr>Group Members</vt:lpstr>
      <vt:lpstr>Introduction</vt:lpstr>
      <vt:lpstr>Scope</vt:lpstr>
      <vt:lpstr>Status Report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dc:title>
  <dc:creator>7</dc:creator>
  <cp:lastModifiedBy>Bilal Rizwan</cp:lastModifiedBy>
  <cp:revision>6</cp:revision>
  <dcterms:created xsi:type="dcterms:W3CDTF">2024-03-03T07:41:22Z</dcterms:created>
  <dcterms:modified xsi:type="dcterms:W3CDTF">2024-03-03T11:37:26Z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2024-03-03T11:32:30Z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eae285d2-e91f-4a4f-a120-df015cb6a148</vt:lpwstr>
  </property>
  <property fmtid="{D5CDD505-2E9C-101B-9397-08002B2CF9AE}" pid="7" name="MSIP_Label_defa4170-0d19-0005-0004-bc88714345d2_ActionId">
    <vt:lpwstr>48411b81-ab01-4c14-b4f5-4f26caf448bf</vt:lpwstr>
  </property>
  <property fmtid="{D5CDD505-2E9C-101B-9397-08002B2CF9AE}" pid="8" name="MSIP_Label_defa4170-0d19-0005-0004-bc88714345d2_ContentBits">
    <vt:lpwstr>0</vt:lpwstr>
  </property>
</Properties>
</file>